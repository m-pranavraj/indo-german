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12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1.1  ·  PRODUCT REQUIREMENTS DOCUMENT  ·  CONCEPT STAGE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Workforce Mobility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Migration Pathway Platform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36118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requirements overview connecting candidates, employers, training providers, recruitment agencies, migration facilitators and government stakeholders in one ecosystem.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" y="5065776"/>
            <a:ext cx="566928" cy="566928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6" name="Image 0" descr="/home/claude/ppt_build/images/user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11" y="5142311"/>
            <a:ext cx="413857" cy="4138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" y="5733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88720" y="51937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14016" y="5065776"/>
            <a:ext cx="566928" cy="566928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10" name="Image 1" descr="/home/claude/ppt_build/images/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551" y="5142311"/>
            <a:ext cx="413857" cy="4138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11680" y="5733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108960" y="51937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34256" y="5065776"/>
            <a:ext cx="566928" cy="566928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14" name="Image 2" descr="/home/claude/ppt_build/image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0791" y="5142311"/>
            <a:ext cx="413857" cy="4138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31920" y="5733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029200" y="51937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54496" y="5065776"/>
            <a:ext cx="566928" cy="566928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18" name="Image 3" descr="/home/claude/ppt_build/images/gradu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031" y="5142311"/>
            <a:ext cx="413857" cy="41385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52160" y="5733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949440" y="51937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174736" y="5065776"/>
            <a:ext cx="566928" cy="566928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22" name="Image 4" descr="/home/claude/ppt_build/images/land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1271" y="5142311"/>
            <a:ext cx="413857" cy="41385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0" y="5733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Purpose &amp; Primary Objectives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67128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5856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Platform User Categories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734056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2549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Candidate Journey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300984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9242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Employer Journey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867912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9593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Recruitment Agency Journey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5262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Training Provider Journey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001768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09320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Government Dashboard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5568696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6916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Migration Facilitation Dashboard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2167128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25856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Job Opportunity Exchange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2734056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82549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LMS Module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63640" y="3300984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39242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AI Features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63640" y="3867912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9593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Payment Module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63640" y="4434840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5262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Reporting &amp; Analytics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5001768"/>
            <a:ext cx="512064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585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a digital platform that enables the creation and management of international workforce migration pathways — supporting the complete migration lifecycle from awareness and candidate mobilisation to overseas placement, migration support and post-migration welfare.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LIFECYCLE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4361688"/>
            <a:ext cx="603504" cy="60350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ppt_build/image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81" y="4443161"/>
            <a:ext cx="440558" cy="4405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278" y="5084064"/>
            <a:ext cx="19445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417320" y="4663440"/>
            <a:ext cx="1395923" cy="0"/>
          </a:xfrm>
          <a:prstGeom prst="line">
            <a:avLst/>
          </a:prstGeom>
          <a:noFill/>
          <a:ln w="25400">
            <a:solidFill>
              <a:srgbClr val="DCE4EF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2877251" y="4361688"/>
            <a:ext cx="603504" cy="60350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ppt_build/images/user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724" y="4443161"/>
            <a:ext cx="440558" cy="4405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06722" y="5084064"/>
            <a:ext cx="19445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544763" y="4663440"/>
            <a:ext cx="1395923" cy="0"/>
          </a:xfrm>
          <a:prstGeom prst="line">
            <a:avLst/>
          </a:prstGeom>
          <a:noFill/>
          <a:ln w="25400">
            <a:solidFill>
              <a:srgbClr val="DCE4EF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004694" y="4361688"/>
            <a:ext cx="603504" cy="60350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home/claude/ppt_build/images/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167" y="4443161"/>
            <a:ext cx="440558" cy="4405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34165" y="5084064"/>
            <a:ext cx="19445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672206" y="4663440"/>
            <a:ext cx="1395923" cy="0"/>
          </a:xfrm>
          <a:prstGeom prst="line">
            <a:avLst/>
          </a:prstGeom>
          <a:noFill/>
          <a:ln w="25400">
            <a:solidFill>
              <a:srgbClr val="DCE4EF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7132137" y="4361688"/>
            <a:ext cx="603504" cy="60350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3" descr="/home/claude/ppt_build/image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3610" y="4443161"/>
            <a:ext cx="440558" cy="44055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61608" y="5084064"/>
            <a:ext cx="19445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Support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799649" y="4663440"/>
            <a:ext cx="1395923" cy="0"/>
          </a:xfrm>
          <a:prstGeom prst="line">
            <a:avLst/>
          </a:prstGeom>
          <a:noFill/>
          <a:ln w="25400">
            <a:solidFill>
              <a:srgbClr val="DCE4EF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9259580" y="4361688"/>
            <a:ext cx="603504" cy="603504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24" name="Image 4" descr="/home/claude/ppt_build/images/han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1053" y="4443161"/>
            <a:ext cx="440558" cy="44055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589051" y="5084064"/>
            <a:ext cx="19445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 Welfare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4878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527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ppt_build/image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593" y="1994306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2606040"/>
            <a:ext cx="21586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awareness regarding international employment opportunities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02254" y="1691640"/>
            <a:ext cx="24878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71861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/home/claude/ppt_build/image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927" y="1994306"/>
            <a:ext cx="400507" cy="4005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846" y="2606040"/>
            <a:ext cx="21586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global demand for skilled workers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1588" y="1691640"/>
            <a:ext cx="24878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71195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2" descr="/home/claude/ppt_build/images/langu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261" y="1994306"/>
            <a:ext cx="400507" cy="40050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66180" y="2606040"/>
            <a:ext cx="21586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candidates through language and migration readiness programmes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200921" y="1691640"/>
            <a:ext cx="24878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170528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3" descr="/home/claude/ppt_build/image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4595" y="1994306"/>
            <a:ext cx="400507" cy="40050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65513" y="2606040"/>
            <a:ext cx="21586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employer-candidate matching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02920" y="3886200"/>
            <a:ext cx="24878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472527" y="41148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4" descr="/home/claude/ppt_build/images/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6593" y="4188866"/>
            <a:ext cx="400507" cy="40050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7512" y="4800600"/>
            <a:ext cx="21586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migration readiness and compliance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3402254" y="3886200"/>
            <a:ext cx="24878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371861" y="41148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5" descr="/home/claude/ppt_build/images/landm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927" y="4188866"/>
            <a:ext cx="400507" cy="40050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66846" y="4800600"/>
            <a:ext cx="21586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government monitoring of migration outcomes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301588" y="3886200"/>
            <a:ext cx="24878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271195" y="41148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6" descr="/home/claude/ppt_build/images/hand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5261" y="4188866"/>
            <a:ext cx="400507" cy="40050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66180" y="4800600"/>
            <a:ext cx="21586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migrant welfare after deployment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User Categories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ppt_build/images/user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" y="1844802"/>
            <a:ext cx="333756" cy="333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773936"/>
            <a:ext cx="25703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/ Student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" y="2404872"/>
            <a:ext cx="3082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(Unregistered)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Candidate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Under Training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Ready Candidate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Candidate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53458" y="1627632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home/claude/ppt_build/images/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060" y="1844802"/>
            <a:ext cx="333756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03266" y="1773936"/>
            <a:ext cx="25703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54626" y="2404872"/>
            <a:ext cx="3082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Employer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Association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Association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203997" y="1627632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6877" y="1783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home/claude/ppt_build/image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599" y="1844802"/>
            <a:ext cx="333756" cy="333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53805" y="1773936"/>
            <a:ext cx="25703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Agencies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05165" y="2404872"/>
            <a:ext cx="3082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Recruitment Agencies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Agencies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Facilitators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02920" y="4114800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27024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home/claude/ppt_build/images/gradu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522" y="4331970"/>
            <a:ext cx="333756" cy="333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52728" y="4261104"/>
            <a:ext cx="25703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Providers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4088" y="4892040"/>
            <a:ext cx="3082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Institutes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Trainers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Training Institutes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353458" y="4114800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36338" y="427024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/home/claude/ppt_build/images/land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8060" y="4331970"/>
            <a:ext cx="333756" cy="3337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03266" y="4261104"/>
            <a:ext cx="25703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Agencies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54626" y="4892040"/>
            <a:ext cx="3082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MAHIMA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International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Government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Missions Abroad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Authorities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203997" y="4114800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6877" y="427024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/home/claude/ppt_build/images/c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599" y="4331970"/>
            <a:ext cx="333756" cy="3337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53805" y="4261104"/>
            <a:ext cx="25703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Administrator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05165" y="4892040"/>
            <a:ext cx="3082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</a:t>
            </a:r>
            <a:endParaRPr lang="en-US" sz="9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Administrator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Journey — 6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92275" y="3017520"/>
            <a:ext cx="949909" cy="0"/>
          </a:xfrm>
          <a:prstGeom prst="line">
            <a:avLst/>
          </a:prstGeom>
          <a:noFill/>
          <a:ln w="25400">
            <a:solidFill>
              <a:srgbClr val="4456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459" y="2660904"/>
            <a:ext cx="713232" cy="713232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6" name="Image 0" descr="/home/claude/ppt_build/image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45" y="2757190"/>
            <a:ext cx="520659" cy="520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3675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" y="3566160"/>
            <a:ext cx="16448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&amp; Discovery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7512" y="4251960"/>
            <a:ext cx="1535125" cy="658368"/>
          </a:xfrm>
          <a:prstGeom prst="roundRect">
            <a:avLst>
              <a:gd name="adj" fmla="val 8333"/>
            </a:avLst>
          </a:prstGeom>
          <a:solidFill>
            <a:srgbClr val="2E4470"/>
          </a:solidFill>
          <a:ln/>
        </p:spPr>
      </p:sp>
      <p:sp>
        <p:nvSpPr>
          <p:cNvPr id="10" name="Text 7"/>
          <p:cNvSpPr/>
          <p:nvPr/>
        </p:nvSpPr>
        <p:spPr>
          <a:xfrm>
            <a:off x="740664" y="4297680"/>
            <a:ext cx="1388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40664" y="4480560"/>
            <a:ext cx="13888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Account Created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756584" y="3017520"/>
            <a:ext cx="949909" cy="0"/>
          </a:xfrm>
          <a:prstGeom prst="line">
            <a:avLst/>
          </a:prstGeom>
          <a:noFill/>
          <a:ln w="25400">
            <a:solidFill>
              <a:srgbClr val="445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42768" y="2660904"/>
            <a:ext cx="713232" cy="713232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14" name="Image 1" descr="/home/claude/ppt_build/images/user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054" y="2757190"/>
            <a:ext cx="520659" cy="520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7984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476957" y="3566160"/>
            <a:ext cx="16448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Profiling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531821" y="4251960"/>
            <a:ext cx="1535125" cy="658368"/>
          </a:xfrm>
          <a:prstGeom prst="roundRect">
            <a:avLst>
              <a:gd name="adj" fmla="val 8333"/>
            </a:avLst>
          </a:prstGeom>
          <a:solidFill>
            <a:srgbClr val="2E4470"/>
          </a:solidFill>
          <a:ln/>
        </p:spPr>
      </p:sp>
      <p:sp>
        <p:nvSpPr>
          <p:cNvPr id="18" name="Text 14"/>
          <p:cNvSpPr/>
          <p:nvPr/>
        </p:nvSpPr>
        <p:spPr>
          <a:xfrm>
            <a:off x="2604973" y="4297680"/>
            <a:ext cx="1388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2604973" y="4480560"/>
            <a:ext cx="13888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Readiness Profile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620893" y="3017520"/>
            <a:ext cx="949909" cy="0"/>
          </a:xfrm>
          <a:prstGeom prst="line">
            <a:avLst/>
          </a:prstGeom>
          <a:noFill/>
          <a:ln w="25400">
            <a:solidFill>
              <a:srgbClr val="44567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7077" y="2660904"/>
            <a:ext cx="713232" cy="713232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22" name="Image 2" descr="/home/claude/ppt_build/images/langu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363" y="2757190"/>
            <a:ext cx="520659" cy="52065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2293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341266" y="3566160"/>
            <a:ext cx="16448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Learning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96130" y="4251960"/>
            <a:ext cx="1535125" cy="658368"/>
          </a:xfrm>
          <a:prstGeom prst="roundRect">
            <a:avLst>
              <a:gd name="adj" fmla="val 8333"/>
            </a:avLst>
          </a:prstGeom>
          <a:solidFill>
            <a:srgbClr val="2E4470"/>
          </a:solidFill>
          <a:ln/>
        </p:spPr>
      </p:sp>
      <p:sp>
        <p:nvSpPr>
          <p:cNvPr id="26" name="Text 21"/>
          <p:cNvSpPr/>
          <p:nvPr/>
        </p:nvSpPr>
        <p:spPr>
          <a:xfrm>
            <a:off x="4469282" y="4297680"/>
            <a:ext cx="1388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4469282" y="4480560"/>
            <a:ext cx="13888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Readiness Status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485202" y="3017520"/>
            <a:ext cx="949909" cy="0"/>
          </a:xfrm>
          <a:prstGeom prst="line">
            <a:avLst/>
          </a:prstGeom>
          <a:noFill/>
          <a:ln w="25400">
            <a:solidFill>
              <a:srgbClr val="44567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671386" y="2660904"/>
            <a:ext cx="713232" cy="713232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30" name="Image 3" descr="/home/claude/ppt_build/image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7673" y="2757190"/>
            <a:ext cx="520659" cy="52065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56602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205576" y="3566160"/>
            <a:ext cx="16448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Preparation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260440" y="4251960"/>
            <a:ext cx="1535125" cy="658368"/>
          </a:xfrm>
          <a:prstGeom prst="roundRect">
            <a:avLst>
              <a:gd name="adj" fmla="val 8333"/>
            </a:avLst>
          </a:prstGeom>
          <a:solidFill>
            <a:srgbClr val="2E4470"/>
          </a:solidFill>
          <a:ln/>
        </p:spPr>
      </p:sp>
      <p:sp>
        <p:nvSpPr>
          <p:cNvPr id="34" name="Text 28"/>
          <p:cNvSpPr/>
          <p:nvPr/>
        </p:nvSpPr>
        <p:spPr>
          <a:xfrm>
            <a:off x="6333592" y="4297680"/>
            <a:ext cx="1388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6333592" y="4480560"/>
            <a:ext cx="13888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Readiness Score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9349511" y="3017520"/>
            <a:ext cx="949909" cy="0"/>
          </a:xfrm>
          <a:prstGeom prst="line">
            <a:avLst/>
          </a:prstGeom>
          <a:noFill/>
          <a:ln w="25400">
            <a:solidFill>
              <a:srgbClr val="44567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535695" y="2660904"/>
            <a:ext cx="713232" cy="713232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38" name="Image 4" descr="/home/claude/ppt_build/images/briefc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982" y="2757190"/>
            <a:ext cx="520659" cy="520659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120911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8069885" y="3566160"/>
            <a:ext cx="16448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8124749" y="4251960"/>
            <a:ext cx="1535125" cy="658368"/>
          </a:xfrm>
          <a:prstGeom prst="roundRect">
            <a:avLst>
              <a:gd name="adj" fmla="val 8333"/>
            </a:avLst>
          </a:prstGeom>
          <a:solidFill>
            <a:srgbClr val="2E4470"/>
          </a:solidFill>
          <a:ln/>
        </p:spPr>
      </p:sp>
      <p:sp>
        <p:nvSpPr>
          <p:cNvPr id="42" name="Text 35"/>
          <p:cNvSpPr/>
          <p:nvPr/>
        </p:nvSpPr>
        <p:spPr>
          <a:xfrm>
            <a:off x="8197901" y="4297680"/>
            <a:ext cx="1388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43" name="Text 36"/>
          <p:cNvSpPr/>
          <p:nvPr/>
        </p:nvSpPr>
        <p:spPr>
          <a:xfrm>
            <a:off x="8197901" y="4480560"/>
            <a:ext cx="13888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Status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10400005" y="2660904"/>
            <a:ext cx="713232" cy="713232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45" name="Image 5" descr="/home/claude/ppt_build/images/hand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6291" y="2757190"/>
            <a:ext cx="520659" cy="520659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0985221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9934194" y="3566160"/>
            <a:ext cx="16448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 Support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9989058" y="4251960"/>
            <a:ext cx="1535125" cy="658368"/>
          </a:xfrm>
          <a:prstGeom prst="roundRect">
            <a:avLst>
              <a:gd name="adj" fmla="val 8333"/>
            </a:avLst>
          </a:prstGeom>
          <a:solidFill>
            <a:srgbClr val="2E4470"/>
          </a:solidFill>
          <a:ln/>
        </p:spPr>
      </p:sp>
      <p:sp>
        <p:nvSpPr>
          <p:cNvPr id="49" name="Text 41"/>
          <p:cNvSpPr/>
          <p:nvPr/>
        </p:nvSpPr>
        <p:spPr>
          <a:xfrm>
            <a:off x="10062210" y="4297680"/>
            <a:ext cx="1388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062210" y="4480560"/>
            <a:ext cx="13888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 Welfare Dashboard</a:t>
            </a:r>
            <a:endParaRPr lang="en-US" sz="850" dirty="0"/>
          </a:p>
        </p:txBody>
      </p:sp>
      <p:sp>
        <p:nvSpPr>
          <p:cNvPr id="51" name="Text 4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Journey — Stages 1–3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4778" cy="452628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348477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057400"/>
            <a:ext cx="3484778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8" name="Image 0" descr="/home/claude/ppt_build/image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863090"/>
            <a:ext cx="333756" cy="3337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45920"/>
            <a:ext cx="2524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 &amp; Discovery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251460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04088" y="2788920"/>
            <a:ext cx="308244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&amp; salary comparison, living conditions, success stories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Occupation-wise opportunities &amp; language requirements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explore opportunities, register interest, create account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5458968"/>
            <a:ext cx="3119018" cy="530352"/>
          </a:xfrm>
          <a:prstGeom prst="roundRect">
            <a:avLst>
              <a:gd name="adj" fmla="val 10345"/>
            </a:avLst>
          </a:prstGeom>
          <a:solidFill>
            <a:srgbClr val="F4F7FB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" y="5458968"/>
            <a:ext cx="2862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enters ecosystem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53458" y="1645920"/>
            <a:ext cx="3484778" cy="452628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53458" y="1645920"/>
            <a:ext cx="348477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16" name="Shape 13"/>
          <p:cNvSpPr/>
          <p:nvPr/>
        </p:nvSpPr>
        <p:spPr>
          <a:xfrm>
            <a:off x="4353458" y="2057400"/>
            <a:ext cx="3484778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Shape 14"/>
          <p:cNvSpPr/>
          <p:nvPr/>
        </p:nvSpPr>
        <p:spPr>
          <a:xfrm>
            <a:off x="4600346" y="1801368"/>
            <a:ext cx="457200" cy="457200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18" name="Image 1" descr="/home/claude/ppt_build/images/user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068" y="1863090"/>
            <a:ext cx="333756" cy="3337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76418" y="1645920"/>
            <a:ext cx="2524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&amp; Profiling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36338" y="251460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554626" y="2788920"/>
            <a:ext cx="308244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education, work experience &amp; language details captured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upload, AI-assisted CV builder, German CV template generator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skill profile created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36338" y="5458968"/>
            <a:ext cx="3119018" cy="530352"/>
          </a:xfrm>
          <a:prstGeom prst="roundRect">
            <a:avLst>
              <a:gd name="adj" fmla="val 10345"/>
            </a:avLst>
          </a:prstGeom>
          <a:solidFill>
            <a:srgbClr val="F4F7FB"/>
          </a:solidFill>
          <a:ln/>
        </p:spPr>
      </p:sp>
      <p:sp>
        <p:nvSpPr>
          <p:cNvPr id="23" name="Text 19"/>
          <p:cNvSpPr/>
          <p:nvPr/>
        </p:nvSpPr>
        <p:spPr>
          <a:xfrm>
            <a:off x="4664354" y="5458968"/>
            <a:ext cx="2862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Readiness Profile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8203997" y="1645920"/>
            <a:ext cx="3484778" cy="452628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203997" y="1645920"/>
            <a:ext cx="348477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26" name="Shape 22"/>
          <p:cNvSpPr/>
          <p:nvPr/>
        </p:nvSpPr>
        <p:spPr>
          <a:xfrm>
            <a:off x="8203997" y="2057400"/>
            <a:ext cx="3484778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Shape 23"/>
          <p:cNvSpPr/>
          <p:nvPr/>
        </p:nvSpPr>
        <p:spPr>
          <a:xfrm>
            <a:off x="8450885" y="1801368"/>
            <a:ext cx="457200" cy="457200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28" name="Image 2" descr="/home/claude/ppt_build/images/langu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2607" y="1863090"/>
            <a:ext cx="333756" cy="33375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26957" y="1645920"/>
            <a:ext cx="2524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Learning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8386877" y="251460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405165" y="2788920"/>
            <a:ext cx="308244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dashboard with course enrollment &amp; daily lessons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Quizzes, progress &amp; attendance tracking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tracking against subsidy eligibility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8386877" y="5458968"/>
            <a:ext cx="3119018" cy="530352"/>
          </a:xfrm>
          <a:prstGeom prst="roundRect">
            <a:avLst>
              <a:gd name="adj" fmla="val 10345"/>
            </a:avLst>
          </a:prstGeom>
          <a:solidFill>
            <a:srgbClr val="F4F7FB"/>
          </a:solidFill>
          <a:ln/>
        </p:spPr>
      </p:sp>
      <p:sp>
        <p:nvSpPr>
          <p:cNvPr id="33" name="Text 28"/>
          <p:cNvSpPr/>
          <p:nvPr/>
        </p:nvSpPr>
        <p:spPr>
          <a:xfrm>
            <a:off x="8514893" y="5458968"/>
            <a:ext cx="2862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Readiness Status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Journey — Stages 4–6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4778" cy="452628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348477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057400"/>
            <a:ext cx="3484778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8" name="Image 0" descr="/home/claude/ppt_build/image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863090"/>
            <a:ext cx="333756" cy="3337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45920"/>
            <a:ext cx="2524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Preparation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251460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04088" y="2788920"/>
            <a:ext cx="308244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repository &amp; qualification mapping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tracker &amp; compliance tracker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orientation course modules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5458968"/>
            <a:ext cx="3119018" cy="530352"/>
          </a:xfrm>
          <a:prstGeom prst="roundRect">
            <a:avLst>
              <a:gd name="adj" fmla="val 10345"/>
            </a:avLst>
          </a:prstGeom>
          <a:solidFill>
            <a:srgbClr val="F4F7FB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" y="5458968"/>
            <a:ext cx="2862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Readiness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53458" y="1645920"/>
            <a:ext cx="3484778" cy="452628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53458" y="1645920"/>
            <a:ext cx="348477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16" name="Shape 13"/>
          <p:cNvSpPr/>
          <p:nvPr/>
        </p:nvSpPr>
        <p:spPr>
          <a:xfrm>
            <a:off x="4353458" y="2057400"/>
            <a:ext cx="3484778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Shape 14"/>
          <p:cNvSpPr/>
          <p:nvPr/>
        </p:nvSpPr>
        <p:spPr>
          <a:xfrm>
            <a:off x="4600346" y="1801368"/>
            <a:ext cx="457200" cy="457200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18" name="Image 1" descr="/home/claude/ppt_build/image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068" y="1863090"/>
            <a:ext cx="333756" cy="3337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76418" y="1645920"/>
            <a:ext cx="2524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Application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36338" y="251460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554626" y="2788920"/>
            <a:ext cx="308244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vacancies &amp; recommended jobs by employer fit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vacancy, interview scheduling, employer chat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 &amp; offer letter download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36338" y="5458968"/>
            <a:ext cx="3119018" cy="530352"/>
          </a:xfrm>
          <a:prstGeom prst="roundRect">
            <a:avLst>
              <a:gd name="adj" fmla="val 10345"/>
            </a:avLst>
          </a:prstGeom>
          <a:solidFill>
            <a:srgbClr val="F4F7FB"/>
          </a:solidFill>
          <a:ln/>
        </p:spPr>
      </p:sp>
      <p:sp>
        <p:nvSpPr>
          <p:cNvPr id="23" name="Text 19"/>
          <p:cNvSpPr/>
          <p:nvPr/>
        </p:nvSpPr>
        <p:spPr>
          <a:xfrm>
            <a:off x="4664354" y="5458968"/>
            <a:ext cx="2862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Status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8203997" y="1645920"/>
            <a:ext cx="3484778" cy="452628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203997" y="1645920"/>
            <a:ext cx="348477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26" name="Shape 22"/>
          <p:cNvSpPr/>
          <p:nvPr/>
        </p:nvSpPr>
        <p:spPr>
          <a:xfrm>
            <a:off x="8203997" y="2057400"/>
            <a:ext cx="3484778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Shape 23"/>
          <p:cNvSpPr/>
          <p:nvPr/>
        </p:nvSpPr>
        <p:spPr>
          <a:xfrm>
            <a:off x="8450885" y="1801368"/>
            <a:ext cx="457200" cy="457200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28" name="Image 2" descr="/home/claude/ppt_build/images/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2607" y="1863090"/>
            <a:ext cx="333756" cy="33375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26957" y="1645920"/>
            <a:ext cx="2524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Post-Migration Support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8386877" y="251460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405165" y="2788920"/>
            <a:ext cx="308244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support &amp; embassy support information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reporting and grievance registration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support, welfare requests, community network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8386877" y="5458968"/>
            <a:ext cx="3119018" cy="530352"/>
          </a:xfrm>
          <a:prstGeom prst="roundRect">
            <a:avLst>
              <a:gd name="adj" fmla="val 10345"/>
            </a:avLst>
          </a:prstGeom>
          <a:solidFill>
            <a:srgbClr val="F4F7FB"/>
          </a:solidFill>
          <a:ln/>
        </p:spPr>
      </p:sp>
      <p:sp>
        <p:nvSpPr>
          <p:cNvPr id="33" name="Text 28"/>
          <p:cNvSpPr/>
          <p:nvPr/>
        </p:nvSpPr>
        <p:spPr>
          <a:xfrm>
            <a:off x="8514893" y="5458968"/>
            <a:ext cx="28629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 Welfare Dashboard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484778" cy="420624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557" y="1984248"/>
            <a:ext cx="603504" cy="60350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ppt_build/image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030" y="2065721"/>
            <a:ext cx="440558" cy="4405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Registration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051560" y="3264408"/>
            <a:ext cx="2387498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3474720"/>
            <a:ext cx="29727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details, country &amp; sector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Employer, Employer Association, Industry Association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53458" y="1691640"/>
            <a:ext cx="3484778" cy="420624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94096" y="1984248"/>
            <a:ext cx="603504" cy="60350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ppt_build/images/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569" y="2065721"/>
            <a:ext cx="440558" cy="4405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0618" y="274320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Vacancy Management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902098" y="3264408"/>
            <a:ext cx="2387498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09490" y="3474720"/>
            <a:ext cx="29727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vacancy; define occupation &amp; salary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language, qualification &amp; hiring timeline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dashboard, status &amp; candidate pipeline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03997" y="1691640"/>
            <a:ext cx="3484778" cy="420624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44634" y="1984248"/>
            <a:ext cx="603504" cy="60350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/home/claude/ppt_build/image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6107" y="2065721"/>
            <a:ext cx="440558" cy="4405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41157" y="274320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Management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752637" y="3264408"/>
            <a:ext cx="2387498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460029" y="3474720"/>
            <a:ext cx="29727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applicants &amp; shortlist candidates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interviews &amp; communicate directly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offer letters &amp; track joining status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Agency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400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23544" y="2404872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ppt_build/image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53" y="2451781"/>
            <a:ext cx="253655" cy="2536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7744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Registration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23544" y="2990088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/home/claude/ppt_build/image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53" y="3036997"/>
            <a:ext cx="253655" cy="2536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6265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Posting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23544" y="3575304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home/claude/ppt_build/image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53" y="3622213"/>
            <a:ext cx="253655" cy="2536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4787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Search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923544" y="4160520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3" descr="/home/claude/ppt_build/image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53" y="4207429"/>
            <a:ext cx="253655" cy="25365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1330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Recommendation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923544" y="4745736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4" descr="/home/claude/ppt_build/image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53" y="4792645"/>
            <a:ext cx="253655" cy="25365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471830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Coordination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923544" y="5330952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5" descr="/home/claude/ppt_build/image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53" y="5377861"/>
            <a:ext cx="253655" cy="25365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17320" y="53035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Tracking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7269480" y="169164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7269480" y="2103120"/>
            <a:ext cx="4419295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607808" y="2418588"/>
            <a:ext cx="512064" cy="512064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27" name="Image 6" descr="/home/claude/ppt_build/image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937" y="2487717"/>
            <a:ext cx="373807" cy="373807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321040" y="2103120"/>
            <a:ext cx="3230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Placements Made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7269480" y="3429000"/>
            <a:ext cx="4419295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7607808" y="3744468"/>
            <a:ext cx="512064" cy="512064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31" name="Image 7" descr="/home/claude/ppt_build/images/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937" y="3813597"/>
            <a:ext cx="373807" cy="373807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321040" y="3429000"/>
            <a:ext cx="3230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Vacancies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7269480" y="4754880"/>
            <a:ext cx="4419295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607808" y="5070348"/>
            <a:ext cx="512064" cy="512064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35" name="Image 8" descr="/home/claude/ppt_build/image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937" y="5139477"/>
            <a:ext cx="373807" cy="373807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321040" y="4754880"/>
            <a:ext cx="3230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Conversion Rate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38" name="Text 2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Provider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64328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568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ppt_build/images/grad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31" y="2033351"/>
            <a:ext cx="413857" cy="4138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4267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Institute Dashboard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2926080"/>
            <a:ext cx="4815688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154680"/>
            <a:ext cx="47242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creation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creation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enrollment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management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management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24448" y="1691640"/>
            <a:ext cx="5364328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9624" y="19568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ppt_build/images/chalk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159" y="2033351"/>
            <a:ext cx="413857" cy="41385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4568" y="1691640"/>
            <a:ext cx="4267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Dashboard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598768" y="2926080"/>
            <a:ext cx="4815688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44488" y="3154680"/>
            <a:ext cx="47242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schedule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tracking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management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Monitor migration ecosystem performance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783080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Visitors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6534" y="1783080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1398" y="1783080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Registrations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0148" y="1783080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5012" y="1783080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Candidates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063761" y="1783080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18625" y="1783080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by Occupation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32888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2532888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by District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56534" y="2532888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1398" y="2532888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Training Status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0148" y="2532888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5012" y="2532888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Status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63761" y="2532888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8625" y="2532888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Readiness Status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282696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3282696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 Achieved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56534" y="3282696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1398" y="3282696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Candidates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0148" y="3282696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5012" y="3282696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Vacancies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63761" y="3282696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18625" y="3282696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Registered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032504"/>
            <a:ext cx="2625014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" y="4032504"/>
            <a:ext cx="25152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Agencies Registered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5010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5376672"/>
            <a:ext cx="2590724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749808" y="5554980"/>
            <a:ext cx="420624" cy="420624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34" name="Image 0" descr="/home/claude/ppt_build/images/map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92" y="5611764"/>
            <a:ext cx="307056" cy="30705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280160" y="5376672"/>
            <a:ext cx="16763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Dashboard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367964" y="5376672"/>
            <a:ext cx="2590724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37" name="Shape 34"/>
          <p:cNvSpPr/>
          <p:nvPr/>
        </p:nvSpPr>
        <p:spPr>
          <a:xfrm>
            <a:off x="3614852" y="5554980"/>
            <a:ext cx="420624" cy="420624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38" name="Image 1" descr="/home/claude/ppt_build/image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636" y="5611764"/>
            <a:ext cx="307056" cy="307056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4145204" y="5376672"/>
            <a:ext cx="16763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Dashboard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6233008" y="5376672"/>
            <a:ext cx="2590724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41" name="Shape 37"/>
          <p:cNvSpPr/>
          <p:nvPr/>
        </p:nvSpPr>
        <p:spPr>
          <a:xfrm>
            <a:off x="6479896" y="5554980"/>
            <a:ext cx="420624" cy="420624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42" name="Image 2" descr="/home/claude/ppt_build/images/lan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680" y="5611764"/>
            <a:ext cx="307056" cy="307056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7010248" y="5376672"/>
            <a:ext cx="16763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Dashboard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9098051" y="5376672"/>
            <a:ext cx="2590724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45" name="Shape 40"/>
          <p:cNvSpPr/>
          <p:nvPr/>
        </p:nvSpPr>
        <p:spPr>
          <a:xfrm>
            <a:off x="9344939" y="5554980"/>
            <a:ext cx="420624" cy="420624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46" name="Image 3" descr="/home/claude/ppt_build/image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724" y="5611764"/>
            <a:ext cx="307056" cy="307056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9875291" y="5376672"/>
            <a:ext cx="16763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Dashboard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Facilitation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MAHIMA / NSDC International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70989" y="21214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ppt_build/images/user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056" y="2195474"/>
            <a:ext cx="400507" cy="4005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803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Tracking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3458" y="182880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21528" y="21214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home/claude/ppt_build/image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594" y="2195474"/>
            <a:ext cx="400507" cy="4005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0618" y="28803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Tracking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03997" y="182880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72066" y="21214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/home/claude/ppt_build/image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6132" y="2195474"/>
            <a:ext cx="400507" cy="40050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41157" y="28803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02920" y="388620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970989" y="41788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3" descr="/home/claude/ppt_build/images/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5056" y="4252874"/>
            <a:ext cx="400507" cy="40050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0080" y="49377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Status Tracking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353458" y="388620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821528" y="41788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4" descr="/home/claude/ppt_build/images/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594" y="4252874"/>
            <a:ext cx="400507" cy="40050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490618" y="49377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Tracking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203997" y="388620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672066" y="41788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7" name="Image 5" descr="/home/claude/ppt_build/images/hand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6132" y="4252874"/>
            <a:ext cx="400507" cy="40050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341157" y="493776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Monitoring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09–10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Opportunity Exchange  &amp;  LMS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64328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ppt_build/images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74" y="201099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6232"/>
            <a:ext cx="435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Opportunity Exchange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Aggregate opportunities globally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3246120"/>
            <a:ext cx="481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Posted Vacancies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Agency Vacancies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External Opportunities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Job Scraping Engine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FILTERS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77240" y="505663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" y="5056632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755648" y="505663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10512" y="5056632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34056" y="505663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88920" y="5056632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712464" y="505663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5056632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324448" y="1691640"/>
            <a:ext cx="5364328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75908" y="19431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1" descr="/home/claude/ppt_build/image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802" y="2010994"/>
            <a:ext cx="367132" cy="3671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93128" y="1856232"/>
            <a:ext cx="435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LMS Module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598768" y="260604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language learning platform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598768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598768" y="324612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lessons, quizzes &amp; mock tests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&amp; certification tracking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analytics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598768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LEVELS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598768" y="505663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5"/>
          <p:cNvSpPr/>
          <p:nvPr/>
        </p:nvSpPr>
        <p:spPr>
          <a:xfrm>
            <a:off x="6598768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257136" y="505663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7"/>
          <p:cNvSpPr/>
          <p:nvPr/>
        </p:nvSpPr>
        <p:spPr>
          <a:xfrm>
            <a:off x="7257136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915504" y="505663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3" name="Text 29"/>
          <p:cNvSpPr/>
          <p:nvPr/>
        </p:nvSpPr>
        <p:spPr>
          <a:xfrm>
            <a:off x="7915504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573872" y="505663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5" name="Text 31"/>
          <p:cNvSpPr/>
          <p:nvPr/>
        </p:nvSpPr>
        <p:spPr>
          <a:xfrm>
            <a:off x="8573872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556434" cy="1920240"/>
          </a:xfrm>
          <a:prstGeom prst="roundRect">
            <a:avLst>
              <a:gd name="adj" fmla="val 3810"/>
            </a:avLst>
          </a:prstGeom>
          <a:solidFill>
            <a:srgbClr val="2E4470"/>
          </a:solidFill>
          <a:ln/>
        </p:spPr>
      </p:sp>
      <p:sp>
        <p:nvSpPr>
          <p:cNvPr id="5" name="Shape 3"/>
          <p:cNvSpPr/>
          <p:nvPr/>
        </p:nvSpPr>
        <p:spPr>
          <a:xfrm>
            <a:off x="1515961" y="2002536"/>
            <a:ext cx="530352" cy="530352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6" name="Image 0" descr="/home/claude/ppt_build/images/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58" y="2074134"/>
            <a:ext cx="387157" cy="3871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97480"/>
            <a:ext cx="2282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Parsing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79394" y="1737360"/>
            <a:ext cx="2556434" cy="1920240"/>
          </a:xfrm>
          <a:prstGeom prst="roundRect">
            <a:avLst>
              <a:gd name="adj" fmla="val 3810"/>
            </a:avLst>
          </a:prstGeom>
          <a:solidFill>
            <a:srgbClr val="2E4470"/>
          </a:solidFill>
          <a:ln/>
        </p:spPr>
      </p:sp>
      <p:sp>
        <p:nvSpPr>
          <p:cNvPr id="9" name="Shape 6"/>
          <p:cNvSpPr/>
          <p:nvPr/>
        </p:nvSpPr>
        <p:spPr>
          <a:xfrm>
            <a:off x="4392435" y="2002536"/>
            <a:ext cx="530352" cy="530352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10" name="Image 1" descr="/home/claude/ppt_build/images/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032" y="2074134"/>
            <a:ext cx="387157" cy="3871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16554" y="2697480"/>
            <a:ext cx="2282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CV Generation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55868" y="1737360"/>
            <a:ext cx="2556434" cy="1920240"/>
          </a:xfrm>
          <a:prstGeom prst="roundRect">
            <a:avLst>
              <a:gd name="adj" fmla="val 3810"/>
            </a:avLst>
          </a:prstGeom>
          <a:solidFill>
            <a:srgbClr val="2E4470"/>
          </a:solidFill>
          <a:ln/>
        </p:spPr>
      </p:sp>
      <p:sp>
        <p:nvSpPr>
          <p:cNvPr id="13" name="Shape 9"/>
          <p:cNvSpPr/>
          <p:nvPr/>
        </p:nvSpPr>
        <p:spPr>
          <a:xfrm>
            <a:off x="7268908" y="2002536"/>
            <a:ext cx="530352" cy="530352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14" name="Image 2" descr="/home/claude/ppt_build/image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506" y="2074134"/>
            <a:ext cx="387157" cy="3871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93028" y="2697480"/>
            <a:ext cx="2282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Candidate-Job Matching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132341" y="1737360"/>
            <a:ext cx="2556434" cy="1920240"/>
          </a:xfrm>
          <a:prstGeom prst="roundRect">
            <a:avLst>
              <a:gd name="adj" fmla="val 3810"/>
            </a:avLst>
          </a:prstGeom>
          <a:solidFill>
            <a:srgbClr val="2E4470"/>
          </a:solidFill>
          <a:ln/>
        </p:spPr>
      </p:sp>
      <p:sp>
        <p:nvSpPr>
          <p:cNvPr id="17" name="Shape 12"/>
          <p:cNvSpPr/>
          <p:nvPr/>
        </p:nvSpPr>
        <p:spPr>
          <a:xfrm>
            <a:off x="10145382" y="2002536"/>
            <a:ext cx="530352" cy="530352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18" name="Image 3" descr="/home/claude/ppt_build/image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6980" y="2074134"/>
            <a:ext cx="387157" cy="38715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69501" y="2697480"/>
            <a:ext cx="2282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Recommendation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02920" y="3886200"/>
            <a:ext cx="2556434" cy="1920240"/>
          </a:xfrm>
          <a:prstGeom prst="roundRect">
            <a:avLst>
              <a:gd name="adj" fmla="val 3810"/>
            </a:avLst>
          </a:prstGeom>
          <a:solidFill>
            <a:srgbClr val="2E4470"/>
          </a:solidFill>
          <a:ln/>
        </p:spPr>
      </p:sp>
      <p:sp>
        <p:nvSpPr>
          <p:cNvPr id="21" name="Shape 15"/>
          <p:cNvSpPr/>
          <p:nvPr/>
        </p:nvSpPr>
        <p:spPr>
          <a:xfrm>
            <a:off x="1515961" y="4151376"/>
            <a:ext cx="530352" cy="530352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22" name="Image 4" descr="/home/claude/ppt_build/image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58" y="4222974"/>
            <a:ext cx="387157" cy="38715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846320"/>
            <a:ext cx="2282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Scoring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379394" y="3886200"/>
            <a:ext cx="2556434" cy="1920240"/>
          </a:xfrm>
          <a:prstGeom prst="roundRect">
            <a:avLst>
              <a:gd name="adj" fmla="val 3810"/>
            </a:avLst>
          </a:prstGeom>
          <a:solidFill>
            <a:srgbClr val="2E4470"/>
          </a:solidFill>
          <a:ln/>
        </p:spPr>
      </p:sp>
      <p:sp>
        <p:nvSpPr>
          <p:cNvPr id="25" name="Shape 18"/>
          <p:cNvSpPr/>
          <p:nvPr/>
        </p:nvSpPr>
        <p:spPr>
          <a:xfrm>
            <a:off x="4392435" y="4151376"/>
            <a:ext cx="530352" cy="530352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26" name="Image 5" descr="/home/claude/ppt_build/images/be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4032" y="4222974"/>
            <a:ext cx="387157" cy="38715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16554" y="4846320"/>
            <a:ext cx="2282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255868" y="3886200"/>
            <a:ext cx="2556434" cy="1920240"/>
          </a:xfrm>
          <a:prstGeom prst="roundRect">
            <a:avLst>
              <a:gd name="adj" fmla="val 3810"/>
            </a:avLst>
          </a:prstGeom>
          <a:solidFill>
            <a:srgbClr val="2E4470"/>
          </a:solidFill>
          <a:ln/>
        </p:spPr>
      </p:sp>
      <p:sp>
        <p:nvSpPr>
          <p:cNvPr id="29" name="Shape 21"/>
          <p:cNvSpPr/>
          <p:nvPr/>
        </p:nvSpPr>
        <p:spPr>
          <a:xfrm>
            <a:off x="7268908" y="4151376"/>
            <a:ext cx="530352" cy="530352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30" name="Image 6" descr="/home/claude/ppt_build/images/comm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0506" y="4222974"/>
            <a:ext cx="387157" cy="38715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93028" y="4846320"/>
            <a:ext cx="2282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 Assistant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12–13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Module  &amp;  Reporting &amp;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64328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ppt_build/images/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74" y="201099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6232"/>
            <a:ext cx="435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Module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481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fees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fees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subsidies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Voucher-based payments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" y="4846320"/>
            <a:ext cx="481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tracking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tracking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management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24448" y="1691640"/>
            <a:ext cx="5364328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73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75908" y="19431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/home/claude/ppt_build/image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802" y="2010994"/>
            <a:ext cx="367132" cy="3671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93128" y="1856232"/>
            <a:ext cx="435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Analytics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598768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598768" y="2926080"/>
            <a:ext cx="48156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Pipeline Report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Fulfilment Report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Outcome Report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Training Report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Demand Report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Report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WORKFORCE MOBILITY &amp; MIGRATION PATHWAY PLATFORM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SCOPE AT A GLANCE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Ecosystem,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2E447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42032"/>
            <a:ext cx="252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Categories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90824" y="237744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2E4470"/>
          </a:solidFill>
          <a:ln/>
        </p:spPr>
      </p:sp>
      <p:sp>
        <p:nvSpPr>
          <p:cNvPr id="8" name="Text 6"/>
          <p:cNvSpPr/>
          <p:nvPr/>
        </p:nvSpPr>
        <p:spPr>
          <a:xfrm>
            <a:off x="3390824" y="2542032"/>
            <a:ext cx="252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27984" y="33375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Journey Stages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237744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2E4470"/>
          </a:solidFill>
          <a:ln/>
        </p:spPr>
      </p:sp>
      <p:sp>
        <p:nvSpPr>
          <p:cNvPr id="11" name="Text 9"/>
          <p:cNvSpPr/>
          <p:nvPr/>
        </p:nvSpPr>
        <p:spPr>
          <a:xfrm>
            <a:off x="6278728" y="2542032"/>
            <a:ext cx="252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15888" y="33375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66631" y="237744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2E44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66631" y="2542032"/>
            <a:ext cx="252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303791" y="33375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Levels (A1-B2)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candidate awareness through overseas placement and post-migration welfare — this draft PRD maps the requirements for every stakeholder in the migration pathway.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1.1 PRD  ·  Version 0.1  —  Concept Stage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1015</Words>
  <Application>Microsoft Macintosh PowerPoint</Application>
  <PresentationFormat>Widescreen</PresentationFormat>
  <Paragraphs>325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Workforce Mobility &amp; Migration Pathway Platform - PRD Visual Overview</dc:title>
  <dc:subject>PptxGenJS Presentation</dc:subject>
  <dc:creator>Workforce Mobility Platform</dc:creator>
  <cp:lastModifiedBy>Microsoft Office User</cp:lastModifiedBy>
  <cp:revision>1</cp:revision>
  <dcterms:created xsi:type="dcterms:W3CDTF">2026-06-20T07:21:11Z</dcterms:created>
  <dcterms:modified xsi:type="dcterms:W3CDTF">2026-06-20T08:08:31Z</dcterms:modified>
</cp:coreProperties>
</file>